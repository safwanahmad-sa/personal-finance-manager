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7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7668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5C7D5-5CB6-232E-8D3A-1D0EA0D85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6F51C6-3EEA-2322-BC4C-4E4B56FB4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57738-5134-CE01-22E7-5EC48AC1B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0FCEC-E2A4-7FE3-C533-59FD14C6E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0103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5943600" cy="5943600"/>
          </a:xfrm>
          <a:prstGeom prst="ellipse">
            <a:avLst/>
          </a:prstGeom>
          <a:solidFill>
            <a:srgbClr val="143D1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10241280" y="4206240"/>
            <a:ext cx="4114800" cy="4114800"/>
          </a:xfrm>
          <a:prstGeom prst="ellipse">
            <a:avLst/>
          </a:prstGeom>
          <a:solidFill>
            <a:srgbClr val="5C9A4F">
              <a:alpha val="3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468880" y="960120"/>
            <a:ext cx="580737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Army University of Science and Technology Khulna</a:t>
            </a:r>
            <a:endParaRPr lang="en-US" sz="32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777240" y="27432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Finance</a:t>
            </a:r>
            <a:endParaRPr lang="en-US" sz="5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System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4617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Swing GUI Application Demonstrating Object-Oriented Programming</a:t>
            </a:r>
            <a:endParaRPr lang="en-US" sz="2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777240" y="5486400"/>
            <a:ext cx="109728" cy="914400"/>
          </a:xfrm>
          <a:prstGeom prst="rect">
            <a:avLst/>
          </a:prstGeom>
          <a:solidFill>
            <a:srgbClr val="5C9A4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051560" y="54864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Safwan Ahmad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1072420005101001  |  Section CSE 4A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6583680" y="54864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OOP Language Sessional-II (CSE 220)</a:t>
            </a:r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0" indent="0" algn="r">
              <a:buNone/>
            </a:pP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Rohul Amin, Lecturer, CSE</a:t>
            </a:r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DEC032-68DC-E67C-6D9D-9E584DA03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315" y="666205"/>
            <a:ext cx="1659993" cy="1756955"/>
          </a:xfrm>
          <a:prstGeom prst="rect">
            <a:avLst/>
          </a:prstGeom>
        </p:spPr>
      </p:pic>
      <p:sp>
        <p:nvSpPr>
          <p:cNvPr id="9001" name="FooterDate"/>
          <p:cNvSpPr txBox="1"/>
          <p:nvPr/>
        </p:nvSpPr>
        <p:spPr>
          <a:xfrm>
            <a:off x="457200" y="642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00" b="0" dirty="0">
                <a:solidFill>
                  <a:srgbClr val="808080"/>
                </a:solidFill>
                <a:latin typeface="Calibri"/>
              </a:rPr>
              <a:t>June 9, 2026</a:t>
            </a:r>
          </a:p>
        </p:txBody>
      </p:sp>
      <p:sp>
        <p:nvSpPr>
          <p:cNvPr id="9002" name="FooterPageNum"/>
          <p:cNvSpPr txBox="1"/>
          <p:nvPr/>
        </p:nvSpPr>
        <p:spPr>
          <a:xfrm>
            <a:off x="7735000" y="642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100" b="1" dirty="0">
                <a:solidFill>
                  <a:srgbClr val="C5A028"/>
                </a:solidFill>
                <a:latin typeface="Calibri"/>
              </a:rP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5C9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&amp; Objectives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12080" cy="4297680"/>
          </a:xfrm>
          <a:prstGeom prst="rect">
            <a:avLst/>
          </a:prstGeom>
          <a:solidFill>
            <a:srgbClr val="F4F7F1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945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2194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60120" y="297180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desktop application with a clean graphical interface that records income and expenses, then automatically calculates the net balance. All data is saved to a file, so it stays safe even after the computer is turned off.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309360" y="18745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Objectives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309360" y="251460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 finance app with a Java Swing GUI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core OOP principles in practice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encapsulation with private data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delete, categorize &amp; summarize entries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data to a file so it persists permanently</a:t>
            </a:r>
            <a:endParaRPr lang="en-US" sz="2100" dirty="0"/>
          </a:p>
        </p:txBody>
      </p:sp>
      <p:sp>
        <p:nvSpPr>
          <p:cNvPr id="9001" name="FooterDate"/>
          <p:cNvSpPr txBox="1"/>
          <p:nvPr/>
        </p:nvSpPr>
        <p:spPr>
          <a:xfrm>
            <a:off x="457200" y="642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00" b="0" dirty="0">
                <a:solidFill>
                  <a:srgbClr val="808080"/>
                </a:solidFill>
                <a:latin typeface="Calibri"/>
              </a:rPr>
              <a:t>June 9, 2026</a:t>
            </a:r>
          </a:p>
        </p:txBody>
      </p:sp>
      <p:sp>
        <p:nvSpPr>
          <p:cNvPr id="9002" name="FooterPageNum"/>
          <p:cNvSpPr txBox="1"/>
          <p:nvPr/>
        </p:nvSpPr>
        <p:spPr>
          <a:xfrm>
            <a:off x="7735000" y="642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100" b="1" dirty="0">
                <a:solidFill>
                  <a:srgbClr val="C5A028"/>
                </a:solidFill>
                <a:latin typeface="Calibri"/>
              </a:rP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5C9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System Can Do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611880" cy="1874520"/>
          </a:xfrm>
          <a:prstGeom prst="rect">
            <a:avLst/>
          </a:prstGeom>
          <a:solidFill>
            <a:srgbClr val="F4F7F1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914400" y="2212848"/>
            <a:ext cx="777240" cy="777240"/>
          </a:xfrm>
          <a:prstGeom prst="ellipse">
            <a:avLst/>
          </a:prstGeom>
          <a:solidFill>
            <a:srgbClr val="1F5C2E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377440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94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 In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 income entry with a name and amount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480560" y="1920240"/>
            <a:ext cx="3611880" cy="1874520"/>
          </a:xfrm>
          <a:prstGeom prst="rect">
            <a:avLst/>
          </a:prstGeom>
          <a:solidFill>
            <a:srgbClr val="F4F7F1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754880" y="2212848"/>
            <a:ext cx="777240" cy="777240"/>
          </a:xfrm>
          <a:prstGeom prst="ellipse">
            <a:avLst/>
          </a:prstGeom>
          <a:solidFill>
            <a:srgbClr val="1F5C2E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377440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2194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 Out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4754880" y="3063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 expense entry with a name and amount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8321040" y="1920240"/>
            <a:ext cx="3611880" cy="1874520"/>
          </a:xfrm>
          <a:prstGeom prst="rect">
            <a:avLst/>
          </a:prstGeom>
          <a:solidFill>
            <a:srgbClr val="F4F7F1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8595360" y="2212848"/>
            <a:ext cx="777240" cy="777240"/>
          </a:xfrm>
          <a:prstGeom prst="ellipse">
            <a:avLst/>
          </a:prstGeom>
          <a:solidFill>
            <a:srgbClr val="1F5C2E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9952" y="2377440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55480" y="2194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Delete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8595360" y="3063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transaction; remaining ones auto-renumber</a:t>
            </a: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3611880" cy="1874520"/>
          </a:xfrm>
          <a:prstGeom prst="rect">
            <a:avLst/>
          </a:prstGeom>
          <a:solidFill>
            <a:srgbClr val="F4F7F1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Shape 15"/>
          <p:cNvSpPr/>
          <p:nvPr/>
        </p:nvSpPr>
        <p:spPr>
          <a:xfrm>
            <a:off x="914400" y="4361688"/>
            <a:ext cx="777240" cy="777240"/>
          </a:xfrm>
          <a:prstGeom prst="ellipse">
            <a:avLst/>
          </a:prstGeom>
          <a:solidFill>
            <a:srgbClr val="1F5C2E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" y="4526280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74520" y="4343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 Lists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914400" y="52120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all Cash In or all Cash Out separately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4480560" y="4069080"/>
            <a:ext cx="3611880" cy="1874520"/>
          </a:xfrm>
          <a:prstGeom prst="rect">
            <a:avLst/>
          </a:prstGeom>
          <a:solidFill>
            <a:srgbClr val="F4F7F1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Shape 19"/>
          <p:cNvSpPr/>
          <p:nvPr/>
        </p:nvSpPr>
        <p:spPr>
          <a:xfrm>
            <a:off x="4754880" y="4361688"/>
            <a:ext cx="777240" cy="777240"/>
          </a:xfrm>
          <a:prstGeom prst="ellipse">
            <a:avLst/>
          </a:prstGeom>
          <a:solidFill>
            <a:srgbClr val="1F5C2E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4526280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715000" y="4343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2400" dirty="0"/>
          </a:p>
        </p:txBody>
      </p:sp>
      <p:sp>
        <p:nvSpPr>
          <p:cNvPr id="28" name="Text 21"/>
          <p:cNvSpPr/>
          <p:nvPr/>
        </p:nvSpPr>
        <p:spPr>
          <a:xfrm>
            <a:off x="4754880" y="52120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for income, expense, and the net balance</a:t>
            </a:r>
            <a:endParaRPr lang="en-US" sz="2000" dirty="0"/>
          </a:p>
        </p:txBody>
      </p:sp>
      <p:sp>
        <p:nvSpPr>
          <p:cNvPr id="29" name="Shape 22"/>
          <p:cNvSpPr/>
          <p:nvPr/>
        </p:nvSpPr>
        <p:spPr>
          <a:xfrm>
            <a:off x="8321040" y="4069080"/>
            <a:ext cx="3611880" cy="1874520"/>
          </a:xfrm>
          <a:prstGeom prst="rect">
            <a:avLst/>
          </a:prstGeom>
          <a:solidFill>
            <a:srgbClr val="F4F7F1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Shape 23"/>
          <p:cNvSpPr/>
          <p:nvPr/>
        </p:nvSpPr>
        <p:spPr>
          <a:xfrm>
            <a:off x="8595360" y="4361688"/>
            <a:ext cx="777240" cy="777240"/>
          </a:xfrm>
          <a:prstGeom prst="ellipse">
            <a:avLst/>
          </a:prstGeom>
          <a:solidFill>
            <a:srgbClr val="1F5C2E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9952" y="4526280"/>
            <a:ext cx="438912" cy="4389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555480" y="4343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Exit</a:t>
            </a:r>
            <a:endParaRPr lang="en-US" sz="2400" dirty="0"/>
          </a:p>
        </p:txBody>
      </p:sp>
      <p:sp>
        <p:nvSpPr>
          <p:cNvPr id="33" name="Text 25"/>
          <p:cNvSpPr/>
          <p:nvPr/>
        </p:nvSpPr>
        <p:spPr>
          <a:xfrm>
            <a:off x="8595360" y="52120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program with a clean goodbye message</a:t>
            </a:r>
            <a:endParaRPr lang="en-US" sz="2000" dirty="0"/>
          </a:p>
        </p:txBody>
      </p:sp>
      <p:sp>
        <p:nvSpPr>
          <p:cNvPr id="9001" name="FooterDate"/>
          <p:cNvSpPr txBox="1"/>
          <p:nvPr/>
        </p:nvSpPr>
        <p:spPr>
          <a:xfrm>
            <a:off x="457200" y="642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00" b="0" dirty="0">
                <a:solidFill>
                  <a:srgbClr val="808080"/>
                </a:solidFill>
                <a:latin typeface="Calibri"/>
              </a:rPr>
              <a:t>June 9, 2026</a:t>
            </a:r>
          </a:p>
        </p:txBody>
      </p:sp>
      <p:sp>
        <p:nvSpPr>
          <p:cNvPr id="9002" name="FooterPageNum"/>
          <p:cNvSpPr txBox="1"/>
          <p:nvPr/>
        </p:nvSpPr>
        <p:spPr>
          <a:xfrm>
            <a:off x="7735000" y="642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100" b="1" dirty="0">
                <a:solidFill>
                  <a:srgbClr val="C5A028"/>
                </a:solidFill>
                <a:latin typeface="Calibri"/>
              </a:rPr>
              <a:t>Page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  <p:bldP spid="22" grpId="0" animBg="1"/>
      <p:bldP spid="23" grpId="0" animBg="1"/>
      <p:bldP spid="27" grpId="0" animBg="1"/>
      <p:bldP spid="28" grpId="0" animBg="1"/>
      <p:bldP spid="29" grpId="0" animBg="1"/>
      <p:bldP spid="32" grpId="0" animBg="1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5C9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classes, each with one clear responsibility — a clean separation of concerns.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2497960" cy="3383280"/>
          </a:xfrm>
          <a:prstGeom prst="rect">
            <a:avLst/>
          </a:prstGeom>
          <a:solidFill>
            <a:srgbClr val="1F5C2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611229" y="2788920"/>
            <a:ext cx="776919" cy="1005840"/>
          </a:xfrm>
          <a:prstGeom prst="ellipse">
            <a:avLst/>
          </a:prstGeom>
          <a:solidFill>
            <a:srgbClr val="143D1E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740" y="30175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0080" y="3886200"/>
            <a:ext cx="241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Transaction.java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20080" y="4361688"/>
            <a:ext cx="2417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model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20080" y="4846320"/>
            <a:ext cx="23030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one entry: serial number, name, amount, and type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3546640" y="2423160"/>
            <a:ext cx="2369360" cy="3383280"/>
          </a:xfrm>
          <a:prstGeom prst="rect">
            <a:avLst/>
          </a:prstGeom>
          <a:solidFill>
            <a:srgbClr val="1F5C2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389189" y="2788920"/>
            <a:ext cx="776919" cy="1005840"/>
          </a:xfrm>
          <a:prstGeom prst="ellipse">
            <a:avLst/>
          </a:prstGeom>
          <a:solidFill>
            <a:srgbClr val="143D1E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700" y="301752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98040" y="3886200"/>
            <a:ext cx="241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FinanceManager.java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498040" y="4361688"/>
            <a:ext cx="2417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3620278" y="4846320"/>
            <a:ext cx="22471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list and runs the add, delete, filter &amp; total logic</a:t>
            </a:r>
            <a:endParaRPr lang="en-US" dirty="0"/>
          </a:p>
        </p:txBody>
      </p:sp>
      <p:sp>
        <p:nvSpPr>
          <p:cNvPr id="1017" name="Shape 13"/>
          <p:cNvSpPr/>
          <p:nvPr/>
        </p:nvSpPr>
        <p:spPr>
          <a:xfrm>
            <a:off x="6276000" y="2423160"/>
            <a:ext cx="2417960" cy="3383280"/>
          </a:xfrm>
          <a:prstGeom prst="rect">
            <a:avLst/>
          </a:prstGeom>
          <a:solidFill>
            <a:srgbClr val="1F5C2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18" name="Shape 14"/>
          <p:cNvSpPr/>
          <p:nvPr/>
        </p:nvSpPr>
        <p:spPr>
          <a:xfrm>
            <a:off x="7167149" y="2788920"/>
            <a:ext cx="776919" cy="1005840"/>
          </a:xfrm>
          <a:prstGeom prst="ellipse">
            <a:avLst/>
          </a:prstGeom>
          <a:solidFill>
            <a:srgbClr val="143D1E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019" name="Image 2" descr="preencoded.png"/>
          <p:cNvPicPr>
            <a:picLocks noChangeAspect="1"/>
          </p:cNvPicPr>
          <p:nvPr/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7281288" y="2998320"/>
            <a:ext cx="548640" cy="548640"/>
          </a:xfrm>
          <a:prstGeom prst="rect">
            <a:avLst/>
          </a:prstGeom>
        </p:spPr>
      </p:pic>
      <p:sp>
        <p:nvSpPr>
          <p:cNvPr id="1020" name="Text 15"/>
          <p:cNvSpPr/>
          <p:nvPr/>
        </p:nvSpPr>
        <p:spPr>
          <a:xfrm>
            <a:off x="6276000" y="3886200"/>
            <a:ext cx="241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FinanceGUI.java</a:t>
            </a:r>
            <a:endParaRPr lang="en-US" sz="2000" dirty="0"/>
          </a:p>
        </p:txBody>
      </p:sp>
      <p:sp>
        <p:nvSpPr>
          <p:cNvPr id="1021" name="Text 16"/>
          <p:cNvSpPr/>
          <p:nvPr/>
        </p:nvSpPr>
        <p:spPr>
          <a:xfrm>
            <a:off x="6276000" y="4361688"/>
            <a:ext cx="2417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</a:t>
            </a:r>
            <a:endParaRPr lang="en-US" sz="2000" dirty="0"/>
          </a:p>
        </p:txBody>
      </p:sp>
      <p:sp>
        <p:nvSpPr>
          <p:cNvPr id="1022" name="Text 17"/>
          <p:cNvSpPr/>
          <p:nvPr/>
        </p:nvSpPr>
        <p:spPr>
          <a:xfrm>
            <a:off x="6324600" y="4846320"/>
            <a:ext cx="2320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window with cards, table &amp; buttons; saves data to file</a:t>
            </a: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9053960" y="2423160"/>
            <a:ext cx="2417960" cy="3383280"/>
          </a:xfrm>
          <a:prstGeom prst="rect">
            <a:avLst/>
          </a:prstGeom>
          <a:solidFill>
            <a:srgbClr val="1F5C2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Shape 14"/>
          <p:cNvSpPr/>
          <p:nvPr/>
        </p:nvSpPr>
        <p:spPr>
          <a:xfrm>
            <a:off x="9945109" y="2788920"/>
            <a:ext cx="776919" cy="1005840"/>
          </a:xfrm>
          <a:prstGeom prst="ellipse">
            <a:avLst/>
          </a:prstGeom>
          <a:solidFill>
            <a:srgbClr val="143D1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9053960" y="3886200"/>
            <a:ext cx="241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Main.java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9053960" y="4361688"/>
            <a:ext cx="2417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(optional)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9102560" y="4846320"/>
            <a:ext cx="2299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text-menu entry point, kept for terminal use</a:t>
            </a: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3089440" y="3703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C9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4" name="Text 19"/>
          <p:cNvSpPr/>
          <p:nvPr/>
        </p:nvSpPr>
        <p:spPr>
          <a:xfrm>
            <a:off x="5867400" y="3703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C9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9003" name="Text 19"/>
          <p:cNvSpPr/>
          <p:nvPr/>
        </p:nvSpPr>
        <p:spPr>
          <a:xfrm>
            <a:off x="8645360" y="3703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C9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9001" name="FooterDate"/>
          <p:cNvSpPr txBox="1"/>
          <p:nvPr/>
        </p:nvSpPr>
        <p:spPr>
          <a:xfrm>
            <a:off x="457200" y="642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00" b="0" dirty="0">
                <a:solidFill>
                  <a:srgbClr val="808080"/>
                </a:solidFill>
                <a:latin typeface="Calibri"/>
              </a:rPr>
              <a:t>June 9, 2026</a:t>
            </a:r>
          </a:p>
        </p:txBody>
      </p:sp>
      <p:sp>
        <p:nvSpPr>
          <p:cNvPr id="9002" name="FooterPageNum"/>
          <p:cNvSpPr txBox="1"/>
          <p:nvPr/>
        </p:nvSpPr>
        <p:spPr>
          <a:xfrm>
            <a:off x="7735000" y="642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100" b="1" dirty="0">
                <a:solidFill>
                  <a:srgbClr val="C5A028"/>
                </a:solidFill>
                <a:latin typeface="Calibri"/>
              </a:rPr>
              <a:t>Page 4</a:t>
            </a:r>
          </a:p>
        </p:txBody>
      </p:sp>
      <p:pic>
        <p:nvPicPr>
          <p:cNvPr id="25" name="Picture 24" descr="Div Coding Icon in SVG, PNG formats">
            <a:extLst>
              <a:ext uri="{FF2B5EF4-FFF2-40B4-BE49-F238E27FC236}">
                <a16:creationId xmlns:a16="http://schemas.microsoft.com/office/drawing/2014/main" id="{29DFF64F-62DA-EB14-7F93-3BC42E5E5E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4347" y="2982619"/>
            <a:ext cx="618442" cy="6184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1020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5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IN ACTION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Object-Oriented Concepts Applied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298448"/>
          </a:xfrm>
          <a:prstGeom prst="rect">
            <a:avLst/>
          </a:prstGeom>
          <a:solidFill>
            <a:srgbClr val="143D1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728" cy="1298448"/>
          </a:xfrm>
          <a:prstGeom prst="rect">
            <a:avLst/>
          </a:prstGeom>
          <a:solidFill>
            <a:srgbClr val="5C9A4F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22199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7510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&amp; Object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691640" y="2432304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Blueprints like Transaction become real objects with new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349240" cy="1298448"/>
          </a:xfrm>
          <a:prstGeom prst="rect">
            <a:avLst/>
          </a:prstGeom>
          <a:solidFill>
            <a:srgbClr val="143D1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109728" cy="1298448"/>
          </a:xfrm>
          <a:prstGeom prst="rect">
            <a:avLst/>
          </a:prstGeom>
          <a:solidFill>
            <a:srgbClr val="5C9A4F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221992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97510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Encapsulation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7315200" y="2432304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are private, accessed only through methods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40080" y="3355848"/>
            <a:ext cx="5349240" cy="1298448"/>
          </a:xfrm>
          <a:prstGeom prst="rect">
            <a:avLst/>
          </a:prstGeom>
          <a:solidFill>
            <a:srgbClr val="143D1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640080" y="3355848"/>
            <a:ext cx="109728" cy="1298448"/>
          </a:xfrm>
          <a:prstGeom prst="rect">
            <a:avLst/>
          </a:prstGeom>
          <a:solidFill>
            <a:srgbClr val="5C9A4F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74904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5021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Constructor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1691640" y="395935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each object's values the moment it is created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263640" y="3355848"/>
            <a:ext cx="5349240" cy="1298448"/>
          </a:xfrm>
          <a:prstGeom prst="rect">
            <a:avLst/>
          </a:prstGeom>
          <a:solidFill>
            <a:srgbClr val="143D1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0" name="Shape 15"/>
          <p:cNvSpPr/>
          <p:nvPr/>
        </p:nvSpPr>
        <p:spPr>
          <a:xfrm>
            <a:off x="6263640" y="3355848"/>
            <a:ext cx="109728" cy="1298448"/>
          </a:xfrm>
          <a:prstGeom prst="rect">
            <a:avLst/>
          </a:prstGeom>
          <a:solidFill>
            <a:srgbClr val="5C9A4F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74904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35021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Methods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7315200" y="395935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addCashIn(), deleteTransaction(), getters &amp; setters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Shape 18"/>
          <p:cNvSpPr/>
          <p:nvPr/>
        </p:nvSpPr>
        <p:spPr>
          <a:xfrm>
            <a:off x="640080" y="4882896"/>
            <a:ext cx="5349240" cy="1298448"/>
          </a:xfrm>
          <a:prstGeom prst="rect">
            <a:avLst/>
          </a:prstGeom>
          <a:solidFill>
            <a:srgbClr val="143D1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5" name="Shape 19"/>
          <p:cNvSpPr/>
          <p:nvPr/>
        </p:nvSpPr>
        <p:spPr>
          <a:xfrm>
            <a:off x="640080" y="4882896"/>
            <a:ext cx="109728" cy="1298448"/>
          </a:xfrm>
          <a:prstGeom prst="rect">
            <a:avLst/>
          </a:prstGeom>
          <a:solidFill>
            <a:srgbClr val="5C9A4F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276088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91640" y="50292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 Interaction</a:t>
            </a:r>
            <a:endParaRPr lang="en-US" sz="2200" dirty="0"/>
          </a:p>
        </p:txBody>
      </p:sp>
      <p:sp>
        <p:nvSpPr>
          <p:cNvPr id="28" name="Text 21"/>
          <p:cNvSpPr/>
          <p:nvPr/>
        </p:nvSpPr>
        <p:spPr>
          <a:xfrm>
            <a:off x="1691640" y="54864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FinanceManager works with many Transaction objects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" name="Shape 22"/>
          <p:cNvSpPr/>
          <p:nvPr/>
        </p:nvSpPr>
        <p:spPr>
          <a:xfrm>
            <a:off x="6263640" y="4882896"/>
            <a:ext cx="5349240" cy="1298448"/>
          </a:xfrm>
          <a:prstGeom prst="rect">
            <a:avLst/>
          </a:prstGeom>
          <a:solidFill>
            <a:srgbClr val="143D1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0" name="Shape 23"/>
          <p:cNvSpPr/>
          <p:nvPr/>
        </p:nvSpPr>
        <p:spPr>
          <a:xfrm>
            <a:off x="6263640" y="4882896"/>
            <a:ext cx="109728" cy="1298448"/>
          </a:xfrm>
          <a:prstGeom prst="rect">
            <a:avLst/>
          </a:prstGeom>
          <a:solidFill>
            <a:srgbClr val="5C9A4F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5276088"/>
            <a:ext cx="502920" cy="5029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15200" y="50292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Overriding</a:t>
            </a:r>
            <a:endParaRPr lang="en-US" sz="2200" dirty="0"/>
          </a:p>
        </p:txBody>
      </p:sp>
      <p:sp>
        <p:nvSpPr>
          <p:cNvPr id="33" name="Text 25"/>
          <p:cNvSpPr/>
          <p:nvPr/>
        </p:nvSpPr>
        <p:spPr>
          <a:xfrm>
            <a:off x="7315200" y="54864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toString() controls how a transaction prints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001" name="FooterDate"/>
          <p:cNvSpPr txBox="1"/>
          <p:nvPr/>
        </p:nvSpPr>
        <p:spPr>
          <a:xfrm>
            <a:off x="457200" y="642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00" b="0" dirty="0">
                <a:solidFill>
                  <a:srgbClr val="808080"/>
                </a:solidFill>
                <a:latin typeface="Calibri"/>
              </a:rPr>
              <a:t>June 9, 2026</a:t>
            </a:r>
          </a:p>
        </p:txBody>
      </p:sp>
      <p:sp>
        <p:nvSpPr>
          <p:cNvPr id="9002" name="FooterPageNum"/>
          <p:cNvSpPr txBox="1"/>
          <p:nvPr/>
        </p:nvSpPr>
        <p:spPr>
          <a:xfrm>
            <a:off x="7735000" y="642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100" b="1" dirty="0">
                <a:solidFill>
                  <a:srgbClr val="C5A028"/>
                </a:solidFill>
                <a:latin typeface="Calibri"/>
              </a:rPr>
              <a:t>Page 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5C9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STEP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Main Menu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7315200" cy="4480560"/>
          </a:xfrm>
          <a:prstGeom prst="rect">
            <a:avLst/>
          </a:prstGeom>
          <a:solidFill>
            <a:srgbClr val="0F1F1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7315200" cy="457200"/>
          </a:xfrm>
          <a:prstGeom prst="rect">
            <a:avLst/>
          </a:prstGeom>
          <a:solidFill>
            <a:srgbClr val="143D1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22960" y="1975104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051560" y="1975104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280160" y="1975104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554480" y="18288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Manager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487168"/>
            <a:ext cx="66751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8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PERSONAL FINANCE MANAGER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Cash In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Cash Out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Delete Transaction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All Cash In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5. All Cash Out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6. Show All Transactions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7. Exit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Enter your choice (1-7): _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0" y="1828800"/>
            <a:ext cx="3291840" cy="4480560"/>
          </a:xfrm>
          <a:prstGeom prst="rect">
            <a:avLst/>
          </a:prstGeom>
          <a:solidFill>
            <a:srgbClr val="F4F7F1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0392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Screen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503920" y="2834640"/>
            <a:ext cx="2788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clear options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repeats after each action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number to begin</a:t>
            </a:r>
            <a:endParaRPr lang="en-US" sz="2400" dirty="0"/>
          </a:p>
        </p:txBody>
      </p:sp>
      <p:sp>
        <p:nvSpPr>
          <p:cNvPr id="9001" name="FooterDate"/>
          <p:cNvSpPr txBox="1"/>
          <p:nvPr/>
        </p:nvSpPr>
        <p:spPr>
          <a:xfrm>
            <a:off x="457200" y="642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00" b="0" dirty="0">
                <a:solidFill>
                  <a:srgbClr val="808080"/>
                </a:solidFill>
                <a:latin typeface="Calibri"/>
              </a:rPr>
              <a:t>June 9, 2026</a:t>
            </a:r>
          </a:p>
        </p:txBody>
      </p:sp>
      <p:sp>
        <p:nvSpPr>
          <p:cNvPr id="9002" name="FooterPageNum"/>
          <p:cNvSpPr txBox="1"/>
          <p:nvPr/>
        </p:nvSpPr>
        <p:spPr>
          <a:xfrm>
            <a:off x="7735000" y="642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100" b="1" dirty="0">
                <a:solidFill>
                  <a:srgbClr val="C5A028"/>
                </a:solidFill>
                <a:latin typeface="Calibri"/>
              </a:rPr>
              <a:t>Page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5C9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OPTION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Adding Cash In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7315200" cy="4480560"/>
          </a:xfrm>
          <a:prstGeom prst="rect">
            <a:avLst/>
          </a:prstGeom>
          <a:solidFill>
            <a:srgbClr val="0F1F1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7315200" cy="457200"/>
          </a:xfrm>
          <a:prstGeom prst="rect">
            <a:avLst/>
          </a:prstGeom>
          <a:solidFill>
            <a:srgbClr val="143D1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22960" y="1975104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051560" y="1975104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280160" y="1975104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554480" y="18288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Manager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487168"/>
            <a:ext cx="66751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 (1-7): 1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8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--- CASH IN ---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Enter Name   : Salary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Enter Amount : 5000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SUCCESS! Cash In added.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Serial Number: #1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0" y="1828800"/>
            <a:ext cx="3291840" cy="4480560"/>
          </a:xfrm>
          <a:prstGeom prst="rect">
            <a:avLst/>
          </a:prstGeom>
          <a:solidFill>
            <a:srgbClr val="F4F7F1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0392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503920" y="2834640"/>
            <a:ext cx="2788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name &amp; amount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Transaction object is made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added to the list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serial number is assigned</a:t>
            </a:r>
            <a:endParaRPr lang="en-US" sz="2000" dirty="0"/>
          </a:p>
        </p:txBody>
      </p:sp>
      <p:sp>
        <p:nvSpPr>
          <p:cNvPr id="9001" name="FooterDate"/>
          <p:cNvSpPr txBox="1"/>
          <p:nvPr/>
        </p:nvSpPr>
        <p:spPr>
          <a:xfrm>
            <a:off x="457200" y="642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00" b="0" dirty="0">
                <a:solidFill>
                  <a:srgbClr val="808080"/>
                </a:solidFill>
                <a:latin typeface="Calibri"/>
              </a:rPr>
              <a:t>June 9, 2026</a:t>
            </a:r>
          </a:p>
        </p:txBody>
      </p:sp>
      <p:sp>
        <p:nvSpPr>
          <p:cNvPr id="9002" name="FooterPageNum"/>
          <p:cNvSpPr txBox="1"/>
          <p:nvPr/>
        </p:nvSpPr>
        <p:spPr>
          <a:xfrm>
            <a:off x="7735000" y="642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100" b="1" dirty="0">
                <a:solidFill>
                  <a:srgbClr val="C5A028"/>
                </a:solidFill>
                <a:latin typeface="Calibri"/>
              </a:rPr>
              <a:t>Page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5C9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OPTION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Adding Cash Out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7315200" cy="4480560"/>
          </a:xfrm>
          <a:prstGeom prst="rect">
            <a:avLst/>
          </a:prstGeom>
          <a:solidFill>
            <a:srgbClr val="0F1F1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7315200" cy="457200"/>
          </a:xfrm>
          <a:prstGeom prst="rect">
            <a:avLst/>
          </a:prstGeom>
          <a:solidFill>
            <a:srgbClr val="143D1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22960" y="1975104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051560" y="1975104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280160" y="1975104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554480" y="18288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Manager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487168"/>
            <a:ext cx="66751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 (1-7): 2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8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--- CASH OUT ---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Enter Name   : Groceries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Enter Amount : 1200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SUCCESS! Cash Out added.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Serial Number: #2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0" y="1828800"/>
            <a:ext cx="3291840" cy="4480560"/>
          </a:xfrm>
          <a:prstGeom prst="rect">
            <a:avLst/>
          </a:prstGeom>
          <a:solidFill>
            <a:srgbClr val="F4F7F1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0392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503920" y="2834640"/>
            <a:ext cx="2788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steps as Cash In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is stored as CASH OUT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toward total expenses</a:t>
            </a:r>
            <a:endParaRPr lang="en-US" sz="2000" dirty="0"/>
          </a:p>
        </p:txBody>
      </p:sp>
      <p:sp>
        <p:nvSpPr>
          <p:cNvPr id="9001" name="FooterDate"/>
          <p:cNvSpPr txBox="1"/>
          <p:nvPr/>
        </p:nvSpPr>
        <p:spPr>
          <a:xfrm>
            <a:off x="457200" y="642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00" b="0" dirty="0">
                <a:solidFill>
                  <a:srgbClr val="808080"/>
                </a:solidFill>
                <a:latin typeface="Calibri"/>
              </a:rPr>
              <a:t>June 9, 2026</a:t>
            </a:r>
          </a:p>
        </p:txBody>
      </p:sp>
      <p:sp>
        <p:nvSpPr>
          <p:cNvPr id="9002" name="FooterPageNum"/>
          <p:cNvSpPr txBox="1"/>
          <p:nvPr/>
        </p:nvSpPr>
        <p:spPr>
          <a:xfrm>
            <a:off x="7735000" y="642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100" b="1" dirty="0">
                <a:solidFill>
                  <a:srgbClr val="C5A028"/>
                </a:solidFill>
                <a:latin typeface="Calibri"/>
              </a:rPr>
              <a:t>Page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5C9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OPTION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Deleting a Transaction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7315200" cy="4480560"/>
          </a:xfrm>
          <a:prstGeom prst="rect">
            <a:avLst/>
          </a:prstGeom>
          <a:solidFill>
            <a:srgbClr val="0F1F1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7315200" cy="457200"/>
          </a:xfrm>
          <a:prstGeom prst="rect">
            <a:avLst/>
          </a:prstGeom>
          <a:solidFill>
            <a:srgbClr val="143D1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22960" y="1975104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051560" y="1975104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280160" y="1975104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554480" y="18288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Manager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487168"/>
            <a:ext cx="66751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 (1-7): 3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8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--- DELETE TRANSACTION ---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Enter Serial Number: 1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SUCCESS! Transaction #1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has been deleted.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(Remaining items renumber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from 1 automatically)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0" y="1828800"/>
            <a:ext cx="3291840" cy="4480560"/>
          </a:xfrm>
          <a:prstGeom prst="rect">
            <a:avLst/>
          </a:prstGeom>
          <a:solidFill>
            <a:srgbClr val="F4F7F1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0392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503920" y="2834640"/>
            <a:ext cx="2788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matching serial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it from the list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Renumbers what's left from 1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an error if not found</a:t>
            </a:r>
            <a:endParaRPr lang="en-US" sz="2000" dirty="0"/>
          </a:p>
        </p:txBody>
      </p:sp>
      <p:sp>
        <p:nvSpPr>
          <p:cNvPr id="9001" name="FooterDate"/>
          <p:cNvSpPr txBox="1"/>
          <p:nvPr/>
        </p:nvSpPr>
        <p:spPr>
          <a:xfrm>
            <a:off x="457200" y="642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00" b="0" dirty="0">
                <a:solidFill>
                  <a:srgbClr val="808080"/>
                </a:solidFill>
                <a:latin typeface="Calibri"/>
              </a:rPr>
              <a:t>June 9, 2026</a:t>
            </a:r>
          </a:p>
        </p:txBody>
      </p:sp>
      <p:sp>
        <p:nvSpPr>
          <p:cNvPr id="9002" name="FooterPageNum"/>
          <p:cNvSpPr txBox="1"/>
          <p:nvPr/>
        </p:nvSpPr>
        <p:spPr>
          <a:xfrm>
            <a:off x="7735000" y="642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100" b="1" dirty="0">
                <a:solidFill>
                  <a:srgbClr val="C5A028"/>
                </a:solidFill>
                <a:latin typeface="Calibri"/>
              </a:rPr>
              <a:t>Page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5C9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OPTIONS 4 &amp;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Viewing the Lists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7315200" cy="4480560"/>
          </a:xfrm>
          <a:prstGeom prst="rect">
            <a:avLst/>
          </a:prstGeom>
          <a:solidFill>
            <a:srgbClr val="0F1F1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7315200" cy="457200"/>
          </a:xfrm>
          <a:prstGeom prst="rect">
            <a:avLst/>
          </a:prstGeom>
          <a:solidFill>
            <a:srgbClr val="143D1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22960" y="1975104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051560" y="1975104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280160" y="1975104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554480" y="18288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Manager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487168"/>
            <a:ext cx="66751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 (1-7): 4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8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===== ALL CASH IN =====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[1] CASH IN | Salary | 5000.0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 (1-7): 5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8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===== ALL CASH OUT =====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[2] CASH OUT | Groceries | 1200.0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1828800"/>
            <a:ext cx="3291840" cy="4480560"/>
          </a:xfrm>
          <a:prstGeom prst="rect">
            <a:avLst/>
          </a:prstGeom>
          <a:solidFill>
            <a:srgbClr val="F4F7F1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0392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503920" y="2834640"/>
            <a:ext cx="2788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by transaction type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4 shows only income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5 shows only expenses</a:t>
            </a:r>
            <a:endParaRPr lang="en-US" sz="2000" dirty="0"/>
          </a:p>
        </p:txBody>
      </p:sp>
      <p:sp>
        <p:nvSpPr>
          <p:cNvPr id="9001" name="FooterDate"/>
          <p:cNvSpPr txBox="1"/>
          <p:nvPr/>
        </p:nvSpPr>
        <p:spPr>
          <a:xfrm>
            <a:off x="457200" y="642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00" b="0" dirty="0">
                <a:solidFill>
                  <a:srgbClr val="808080"/>
                </a:solidFill>
                <a:latin typeface="Calibri"/>
              </a:rPr>
              <a:t>June 9, 2026</a:t>
            </a:r>
          </a:p>
        </p:txBody>
      </p:sp>
      <p:sp>
        <p:nvSpPr>
          <p:cNvPr id="9002" name="FooterPageNum"/>
          <p:cNvSpPr txBox="1"/>
          <p:nvPr/>
        </p:nvSpPr>
        <p:spPr>
          <a:xfrm>
            <a:off x="7735000" y="642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100" b="1" dirty="0">
                <a:solidFill>
                  <a:srgbClr val="C5A028"/>
                </a:solidFill>
                <a:latin typeface="Calibri"/>
              </a:rPr>
              <a:t>Page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5C9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OPTION 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Summary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7315200" cy="4480560"/>
          </a:xfrm>
          <a:prstGeom prst="rect">
            <a:avLst/>
          </a:prstGeom>
          <a:solidFill>
            <a:srgbClr val="0F1F1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7315200" cy="457200"/>
          </a:xfrm>
          <a:prstGeom prst="rect">
            <a:avLst/>
          </a:prstGeom>
          <a:solidFill>
            <a:srgbClr val="143D1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22960" y="1975104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051560" y="1975104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280160" y="1975104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554480" y="18288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Manager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487168"/>
            <a:ext cx="66751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 (1-7): 6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8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===== ALL TRANSACTIONS =====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[1] CASH IN  | Salary | 5000.0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[2] CASH OUT | Groceries | 1200.0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----------------------------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 Cash In  : 5000.0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 Cash Out : 1200.0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Net Balance    : 3800.0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1828800"/>
            <a:ext cx="3291840" cy="4480560"/>
          </a:xfrm>
          <a:prstGeom prst="rect">
            <a:avLst/>
          </a:prstGeom>
          <a:solidFill>
            <a:srgbClr val="F4F7F1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0392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503920" y="2834640"/>
            <a:ext cx="2788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every transaction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up income &amp; expenses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= income − expenses</a:t>
            </a:r>
            <a:endParaRPr lang="en-US" sz="2000" dirty="0"/>
          </a:p>
        </p:txBody>
      </p:sp>
      <p:sp>
        <p:nvSpPr>
          <p:cNvPr id="9001" name="FooterDate"/>
          <p:cNvSpPr txBox="1"/>
          <p:nvPr/>
        </p:nvSpPr>
        <p:spPr>
          <a:xfrm>
            <a:off x="457200" y="642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00" b="0" dirty="0">
                <a:solidFill>
                  <a:srgbClr val="808080"/>
                </a:solidFill>
                <a:latin typeface="Calibri"/>
              </a:rPr>
              <a:t>June 9, 2026</a:t>
            </a:r>
          </a:p>
        </p:txBody>
      </p:sp>
      <p:sp>
        <p:nvSpPr>
          <p:cNvPr id="9002" name="FooterPageNum"/>
          <p:cNvSpPr txBox="1"/>
          <p:nvPr/>
        </p:nvSpPr>
        <p:spPr>
          <a:xfrm>
            <a:off x="7735000" y="642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100" b="1" dirty="0">
                <a:solidFill>
                  <a:srgbClr val="C5A028"/>
                </a:solidFill>
                <a:latin typeface="Calibri"/>
              </a:rPr>
              <a:t>Page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EC1DD8-9808-3078-C6D0-697223E54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2E46287-D963-9F88-6E12-67974A8C7A2D}"/>
              </a:ext>
            </a:extLst>
          </p:cNvPr>
          <p:cNvSpPr/>
          <p:nvPr/>
        </p:nvSpPr>
        <p:spPr>
          <a:xfrm>
            <a:off x="640080" y="487991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 Interface</a:t>
            </a:r>
            <a:endParaRPr lang="en-US" sz="4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C26F027-5474-38F4-220D-E60695670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681" y="1210371"/>
            <a:ext cx="9997929" cy="5243961"/>
          </a:xfrm>
          <a:prstGeom prst="rect">
            <a:avLst/>
          </a:prstGeom>
        </p:spPr>
      </p:pic>
      <p:sp>
        <p:nvSpPr>
          <p:cNvPr id="9001" name="FooterDate"/>
          <p:cNvSpPr txBox="1"/>
          <p:nvPr/>
        </p:nvSpPr>
        <p:spPr>
          <a:xfrm>
            <a:off x="457200" y="642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00" b="0" dirty="0">
                <a:solidFill>
                  <a:srgbClr val="808080"/>
                </a:solidFill>
                <a:latin typeface="Calibri"/>
              </a:rPr>
              <a:t>June 9, 2026</a:t>
            </a:r>
          </a:p>
        </p:txBody>
      </p:sp>
      <p:sp>
        <p:nvSpPr>
          <p:cNvPr id="9002" name="FooterPageNum"/>
          <p:cNvSpPr txBox="1"/>
          <p:nvPr/>
        </p:nvSpPr>
        <p:spPr>
          <a:xfrm>
            <a:off x="7735000" y="642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100" b="1" dirty="0">
                <a:solidFill>
                  <a:srgbClr val="C5A028"/>
                </a:solidFill>
                <a:latin typeface="Calibri"/>
              </a:rPr>
              <a:t>Page 12</a:t>
            </a:r>
          </a:p>
        </p:txBody>
      </p:sp>
    </p:spTree>
    <p:extLst>
      <p:ext uri="{BB962C8B-B14F-4D97-AF65-F5344CB8AC3E}">
        <p14:creationId xmlns:p14="http://schemas.microsoft.com/office/powerpoint/2010/main" val="410830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5C9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03520" cy="4297680"/>
          </a:xfrm>
          <a:prstGeom prst="rect">
            <a:avLst/>
          </a:prstGeom>
          <a:solidFill>
            <a:srgbClr val="F4F7F1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Limitations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FontTx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category or date for entries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/>
              <a:t>Stores data in a plain text file, not a database</a:t>
            </a:r>
          </a:p>
          <a:p>
            <a:pPr marL="342900" indent="-342900">
              <a:spcAft>
                <a:spcPts val="1400"/>
              </a:spcAft>
              <a:buSzPct val="100000"/>
              <a:buFontTx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user, no login system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303520" cy="4297680"/>
          </a:xfrm>
          <a:prstGeom prst="rect">
            <a:avLst/>
          </a:prstGeom>
          <a:solidFill>
            <a:srgbClr val="1F5C2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92240" y="2148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Improvements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92240" y="28803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storage to a MySQL database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categories, dates &amp; monthly reports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support with secure login</a:t>
            </a:r>
            <a:endParaRPr lang="en-US" sz="2400" dirty="0"/>
          </a:p>
        </p:txBody>
      </p:sp>
      <p:sp>
        <p:nvSpPr>
          <p:cNvPr id="9001" name="FooterDate"/>
          <p:cNvSpPr txBox="1"/>
          <p:nvPr/>
        </p:nvSpPr>
        <p:spPr>
          <a:xfrm>
            <a:off x="457200" y="642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00" b="0" dirty="0">
                <a:solidFill>
                  <a:srgbClr val="808080"/>
                </a:solidFill>
                <a:latin typeface="Calibri"/>
              </a:rPr>
              <a:t>June 9, 2026</a:t>
            </a:r>
          </a:p>
        </p:txBody>
      </p:sp>
      <p:sp>
        <p:nvSpPr>
          <p:cNvPr id="9002" name="FooterPageNum"/>
          <p:cNvSpPr txBox="1"/>
          <p:nvPr/>
        </p:nvSpPr>
        <p:spPr>
          <a:xfrm>
            <a:off x="7735000" y="642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100" b="1" dirty="0">
                <a:solidFill>
                  <a:srgbClr val="C5A028"/>
                </a:solidFill>
                <a:latin typeface="Calibri"/>
              </a:rPr>
              <a:t>Page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5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657600"/>
            <a:ext cx="5943600" cy="5943600"/>
          </a:xfrm>
          <a:prstGeom prst="ellipse">
            <a:avLst/>
          </a:prstGeom>
          <a:solidFill>
            <a:srgbClr val="143D1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9601200" y="-2286000"/>
            <a:ext cx="5029200" cy="5029200"/>
          </a:xfrm>
          <a:prstGeom prst="ellipse">
            <a:avLst/>
          </a:prstGeom>
          <a:solidFill>
            <a:srgbClr val="5C9A4F">
              <a:alpha val="2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914400" y="24688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965960" y="34290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meets its goals — a practical finance tool that clearly demonstrates the core principles of Object-Oriented Programming through a clean, modular design.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914400" y="50292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Safwan Ahmad  |  CSE 4A  |  OOP Sessional-II (CSE 220)</a:t>
            </a:r>
            <a:endParaRPr lang="en-US" sz="17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256EB6-EEDA-CA77-6CDB-B6634AEEF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562" y="550545"/>
            <a:ext cx="1682876" cy="1781175"/>
          </a:xfrm>
          <a:prstGeom prst="rect">
            <a:avLst/>
          </a:prstGeom>
        </p:spPr>
      </p:pic>
      <p:sp>
        <p:nvSpPr>
          <p:cNvPr id="9001" name="FooterDate"/>
          <p:cNvSpPr txBox="1"/>
          <p:nvPr/>
        </p:nvSpPr>
        <p:spPr>
          <a:xfrm>
            <a:off x="457200" y="642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00" b="0" dirty="0">
                <a:solidFill>
                  <a:srgbClr val="808080"/>
                </a:solidFill>
                <a:latin typeface="Calibri"/>
              </a:rPr>
              <a:t>June 9, 2026</a:t>
            </a:r>
          </a:p>
        </p:txBody>
      </p:sp>
      <p:sp>
        <p:nvSpPr>
          <p:cNvPr id="9002" name="FooterPageNum"/>
          <p:cNvSpPr txBox="1"/>
          <p:nvPr/>
        </p:nvSpPr>
        <p:spPr>
          <a:xfrm>
            <a:off x="7735000" y="642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100" b="1" dirty="0">
                <a:solidFill>
                  <a:srgbClr val="C5A028"/>
                </a:solidFill>
                <a:latin typeface="Calibri"/>
              </a:rPr>
              <a:t>Page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985</Words>
  <Application>Microsoft Office PowerPoint</Application>
  <PresentationFormat>Widescreen</PresentationFormat>
  <Paragraphs>214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Finance Management System</dc:title>
  <dc:subject>PptxGenJS Presentation</dc:subject>
  <dc:creator>Safwan Ahmad</dc:creator>
  <cp:lastModifiedBy>Our Cloud</cp:lastModifiedBy>
  <cp:revision>9</cp:revision>
  <dcterms:created xsi:type="dcterms:W3CDTF">2026-06-06T16:42:52Z</dcterms:created>
  <dcterms:modified xsi:type="dcterms:W3CDTF">2026-06-09T11:55:00Z</dcterms:modified>
</cp:coreProperties>
</file>